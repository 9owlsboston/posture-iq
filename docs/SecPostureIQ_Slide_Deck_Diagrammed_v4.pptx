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9" d="100"/>
          <a:sy n="119" d="100"/>
        </p:scale>
        <p:origin x="1482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9910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>
                <a:solidFill>
                  <a:srgbClr val="E2E8F0"/>
                </a:solidFill>
                <a:latin typeface="Segoe UI Semibold"/>
              </a:defRPr>
            </a:pPr>
            <a:r>
              <a:rPr dirty="0"/>
              <a:t>Posture</a:t>
            </a:r>
            <a:r>
              <a:rPr lang="en-US" dirty="0"/>
              <a:t> </a:t>
            </a:r>
            <a:r>
              <a:rPr dirty="0"/>
              <a:t>IQ — </a:t>
            </a:r>
            <a:r>
              <a:rPr sz="2400" dirty="0"/>
              <a:t>ME5 Security Posture Assessment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364074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  <a:latin typeface="Segoe UI"/>
              </a:defRPr>
            </a:pPr>
            <a:r>
              <a:rPr dirty="0"/>
              <a:t>Built with the GitHub Copilot SDK · </a:t>
            </a:r>
            <a:r>
              <a:rPr lang="en-US" dirty="0"/>
              <a:t>Runtime</a:t>
            </a:r>
            <a:endParaRPr dirty="0"/>
          </a:p>
        </p:txBody>
      </p:sp>
      <p:sp>
        <p:nvSpPr>
          <p:cNvPr id="24" name="TextBox 23"/>
          <p:cNvSpPr txBox="1"/>
          <p:nvPr/>
        </p:nvSpPr>
        <p:spPr>
          <a:xfrm>
            <a:off x="548640" y="649224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rPr dirty="0"/>
              <a:t>Key integration: Copilot SDK ↔ Azure services ↔ Microsoft 365 security signals (read-only)</a:t>
            </a:r>
          </a:p>
        </p:txBody>
      </p:sp>
      <p:sp>
        <p:nvSpPr>
          <p:cNvPr id="10" name="Rounded Rectangle 4">
            <a:extLst>
              <a:ext uri="{FF2B5EF4-FFF2-40B4-BE49-F238E27FC236}">
                <a16:creationId xmlns:a16="http://schemas.microsoft.com/office/drawing/2014/main" id="{64039F8E-509F-5761-E75B-35FCB1F280A4}"/>
              </a:ext>
            </a:extLst>
          </p:cNvPr>
          <p:cNvSpPr/>
          <p:nvPr/>
        </p:nvSpPr>
        <p:spPr>
          <a:xfrm>
            <a:off x="548640" y="1395095"/>
            <a:ext cx="8160094" cy="2679601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D5340FE-5595-1FF2-0F1D-3A8072501D42}"/>
              </a:ext>
            </a:extLst>
          </p:cNvPr>
          <p:cNvGrpSpPr/>
          <p:nvPr/>
        </p:nvGrpSpPr>
        <p:grpSpPr>
          <a:xfrm>
            <a:off x="1079915" y="1974746"/>
            <a:ext cx="2204381" cy="1728574"/>
            <a:chOff x="966408" y="2065721"/>
            <a:chExt cx="2204381" cy="1728574"/>
          </a:xfrm>
        </p:grpSpPr>
        <p:sp>
          <p:nvSpPr>
            <p:cNvPr id="30" name="Rounded Rectangle 24">
              <a:extLst>
                <a:ext uri="{FF2B5EF4-FFF2-40B4-BE49-F238E27FC236}">
                  <a16:creationId xmlns:a16="http://schemas.microsoft.com/office/drawing/2014/main" id="{8DB7EF8F-0833-C3E2-D1B1-005AD29700D2}"/>
                </a:ext>
              </a:extLst>
            </p:cNvPr>
            <p:cNvSpPr/>
            <p:nvPr/>
          </p:nvSpPr>
          <p:spPr>
            <a:xfrm>
              <a:off x="966408" y="2231602"/>
              <a:ext cx="1713281" cy="342958"/>
            </a:xfrm>
            <a:prstGeom prst="roundRect">
              <a:avLst/>
            </a:prstGeom>
            <a:solidFill>
              <a:srgbClr val="0F172A"/>
            </a:solidFill>
            <a:ln>
              <a:solidFill>
                <a:srgbClr val="3B82F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>
                <a:defRPr sz="1300">
                  <a:solidFill>
                    <a:srgbClr val="E2E8F0"/>
                  </a:solidFill>
                  <a:latin typeface="Segoe UI Semibold"/>
                </a:defRPr>
              </a:pPr>
              <a:r>
                <a:rPr lang="en-US" sz="1200" dirty="0"/>
                <a:t>GitHub Copilot SDK</a:t>
              </a:r>
            </a:p>
          </p:txBody>
        </p:sp>
        <p:sp>
          <p:nvSpPr>
            <p:cNvPr id="31" name="Rounded Rectangle 24">
              <a:extLst>
                <a:ext uri="{FF2B5EF4-FFF2-40B4-BE49-F238E27FC236}">
                  <a16:creationId xmlns:a16="http://schemas.microsoft.com/office/drawing/2014/main" id="{F46B6073-E34D-2C1C-056F-E0B233882BE7}"/>
                </a:ext>
              </a:extLst>
            </p:cNvPr>
            <p:cNvSpPr/>
            <p:nvPr/>
          </p:nvSpPr>
          <p:spPr>
            <a:xfrm>
              <a:off x="976711" y="3197354"/>
              <a:ext cx="1713281" cy="452220"/>
            </a:xfrm>
            <a:prstGeom prst="roundRect">
              <a:avLst/>
            </a:prstGeom>
            <a:solidFill>
              <a:srgbClr val="0F172A"/>
            </a:solidFill>
            <a:ln>
              <a:solidFill>
                <a:srgbClr val="3B82F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>
                <a:defRPr sz="1300">
                  <a:solidFill>
                    <a:srgbClr val="E2E8F0"/>
                  </a:solidFill>
                  <a:latin typeface="Segoe UI Semibold"/>
                </a:defRPr>
              </a:pPr>
              <a:r>
                <a:rPr lang="en-US" sz="1200" dirty="0"/>
                <a:t>SDK Runtime</a:t>
              </a:r>
            </a:p>
            <a:p>
              <a:pPr algn="ctr">
                <a:defRPr sz="1300">
                  <a:solidFill>
                    <a:srgbClr val="E2E8F0"/>
                  </a:solidFill>
                  <a:latin typeface="Segoe UI Semibold"/>
                </a:defRPr>
              </a:pPr>
              <a:r>
                <a:rPr lang="en-US" sz="1200" dirty="0"/>
                <a:t>Plan &amp; Orchestrate</a:t>
              </a:r>
            </a:p>
          </p:txBody>
        </p:sp>
        <p:sp>
          <p:nvSpPr>
            <p:cNvPr id="32" name="Right Bracket 31">
              <a:extLst>
                <a:ext uri="{FF2B5EF4-FFF2-40B4-BE49-F238E27FC236}">
                  <a16:creationId xmlns:a16="http://schemas.microsoft.com/office/drawing/2014/main" id="{3D67844F-8BA3-3F17-0286-D8042D324607}"/>
                </a:ext>
              </a:extLst>
            </p:cNvPr>
            <p:cNvSpPr/>
            <p:nvPr/>
          </p:nvSpPr>
          <p:spPr>
            <a:xfrm>
              <a:off x="2836826" y="2065721"/>
              <a:ext cx="333963" cy="1728574"/>
            </a:xfrm>
            <a:prstGeom prst="rightBracket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Arrow: Down 32">
              <a:extLst>
                <a:ext uri="{FF2B5EF4-FFF2-40B4-BE49-F238E27FC236}">
                  <a16:creationId xmlns:a16="http://schemas.microsoft.com/office/drawing/2014/main" id="{94FDA6B4-4972-0953-A56D-4A794E4FF891}"/>
                </a:ext>
              </a:extLst>
            </p:cNvPr>
            <p:cNvSpPr/>
            <p:nvPr/>
          </p:nvSpPr>
          <p:spPr>
            <a:xfrm>
              <a:off x="1162848" y="2689449"/>
              <a:ext cx="309888" cy="393016"/>
            </a:xfrm>
            <a:prstGeom prst="down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Arrow: Down 33">
              <a:extLst>
                <a:ext uri="{FF2B5EF4-FFF2-40B4-BE49-F238E27FC236}">
                  <a16:creationId xmlns:a16="http://schemas.microsoft.com/office/drawing/2014/main" id="{DF384270-C244-6D16-E2F9-5B83F235C070}"/>
                </a:ext>
              </a:extLst>
            </p:cNvPr>
            <p:cNvSpPr/>
            <p:nvPr/>
          </p:nvSpPr>
          <p:spPr>
            <a:xfrm rot="10800000">
              <a:off x="2182107" y="2680271"/>
              <a:ext cx="309888" cy="393016"/>
            </a:xfrm>
            <a:prstGeom prst="down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FF756C7A-C1A7-9EED-7C5B-661A35A958E9}"/>
              </a:ext>
            </a:extLst>
          </p:cNvPr>
          <p:cNvGrpSpPr/>
          <p:nvPr/>
        </p:nvGrpSpPr>
        <p:grpSpPr>
          <a:xfrm>
            <a:off x="4114763" y="2205886"/>
            <a:ext cx="1467607" cy="1393879"/>
            <a:chOff x="9601590" y="241709"/>
            <a:chExt cx="1467607" cy="1393879"/>
          </a:xfrm>
        </p:grpSpPr>
        <p:sp>
          <p:nvSpPr>
            <p:cNvPr id="36" name="Rounded Rectangle 24">
              <a:extLst>
                <a:ext uri="{FF2B5EF4-FFF2-40B4-BE49-F238E27FC236}">
                  <a16:creationId xmlns:a16="http://schemas.microsoft.com/office/drawing/2014/main" id="{8865CECE-97C8-00CA-BB52-DB061EAE7280}"/>
                </a:ext>
              </a:extLst>
            </p:cNvPr>
            <p:cNvSpPr/>
            <p:nvPr/>
          </p:nvSpPr>
          <p:spPr>
            <a:xfrm>
              <a:off x="9601590" y="241709"/>
              <a:ext cx="1467607" cy="1393879"/>
            </a:xfrm>
            <a:prstGeom prst="roundRect">
              <a:avLst/>
            </a:prstGeom>
            <a:solidFill>
              <a:srgbClr val="0F172A"/>
            </a:solidFill>
            <a:ln>
              <a:solidFill>
                <a:srgbClr val="3B82F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>
                <a:defRPr sz="1200">
                  <a:solidFill>
                    <a:srgbClr val="E2E8F0"/>
                  </a:solidFill>
                  <a:latin typeface="Segoe UI"/>
                </a:defRPr>
              </a:pPr>
              <a:r>
                <a:rPr lang="en-US" sz="1100" dirty="0">
                  <a:latin typeface="Segoe UI" panose="020B0502040204020203" pitchFamily="34" charset="0"/>
                  <a:cs typeface="Segoe UI" panose="020B0502040204020203" pitchFamily="34" charset="0"/>
                </a:rPr>
                <a:t>• Content Safety</a:t>
              </a:r>
            </a:p>
            <a:p>
              <a:pPr>
                <a:defRPr sz="1200">
                  <a:solidFill>
                    <a:srgbClr val="E2E8F0"/>
                  </a:solidFill>
                  <a:latin typeface="Segoe UI"/>
                </a:defRPr>
              </a:pPr>
              <a:r>
                <a:rPr lang="en-US" sz="1100" dirty="0">
                  <a:latin typeface="Segoe UI" panose="020B0502040204020203" pitchFamily="34" charset="0"/>
                  <a:cs typeface="Segoe UI" panose="020B0502040204020203" pitchFamily="34" charset="0"/>
                </a:rPr>
                <a:t>• PII Redaction</a:t>
              </a:r>
            </a:p>
            <a:p>
              <a:pPr>
                <a:defRPr sz="1200">
                  <a:solidFill>
                    <a:srgbClr val="E2E8F0"/>
                  </a:solidFill>
                  <a:latin typeface="Segoe UI"/>
                </a:defRPr>
              </a:pPr>
              <a:r>
                <a:rPr lang="en-US" sz="1100" dirty="0">
                  <a:latin typeface="Segoe UI" panose="020B0502040204020203" pitchFamily="34" charset="0"/>
                  <a:cs typeface="Segoe UI" panose="020B0502040204020203" pitchFamily="34" charset="0"/>
                </a:rPr>
                <a:t>• Audit Logger</a:t>
              </a:r>
            </a:p>
            <a:p>
              <a:pPr>
                <a:defRPr sz="1200">
                  <a:solidFill>
                    <a:srgbClr val="E2E8F0"/>
                  </a:solidFill>
                  <a:latin typeface="Segoe UI"/>
                </a:defRPr>
              </a:pPr>
              <a:r>
                <a:rPr lang="en-US" sz="1100" dirty="0">
                  <a:latin typeface="Segoe UI" panose="020B0502040204020203" pitchFamily="34" charset="0"/>
                  <a:cs typeface="Segoe UI" panose="020B0502040204020203" pitchFamily="34" charset="0"/>
                </a:rPr>
                <a:t>• Tracing</a:t>
              </a:r>
              <a:endParaRPr sz="11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2BB861B3-5B9B-B17F-7A4C-AF2DF61DE1DD}"/>
                </a:ext>
              </a:extLst>
            </p:cNvPr>
            <p:cNvSpPr txBox="1"/>
            <p:nvPr/>
          </p:nvSpPr>
          <p:spPr>
            <a:xfrm>
              <a:off x="9759818" y="363467"/>
              <a:ext cx="1151149" cy="30777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>
                <a:defRPr sz="1400">
                  <a:solidFill>
                    <a:srgbClr val="E2E8F0"/>
                  </a:solidFill>
                  <a:latin typeface="Segoe UI Semibold"/>
                </a:defRPr>
              </a:pPr>
              <a:r>
                <a:rPr lang="en-US" dirty="0"/>
                <a:t>Middleware 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7E8EE816-4A20-5DA4-FB7D-8A69D29F5B4D}"/>
              </a:ext>
            </a:extLst>
          </p:cNvPr>
          <p:cNvGrpSpPr/>
          <p:nvPr/>
        </p:nvGrpSpPr>
        <p:grpSpPr>
          <a:xfrm>
            <a:off x="6350804" y="1779917"/>
            <a:ext cx="1713281" cy="2011773"/>
            <a:chOff x="9403184" y="851551"/>
            <a:chExt cx="1713281" cy="2011773"/>
          </a:xfrm>
        </p:grpSpPr>
        <p:sp>
          <p:nvSpPr>
            <p:cNvPr id="39" name="Rounded Rectangle 24">
              <a:extLst>
                <a:ext uri="{FF2B5EF4-FFF2-40B4-BE49-F238E27FC236}">
                  <a16:creationId xmlns:a16="http://schemas.microsoft.com/office/drawing/2014/main" id="{B21C9837-C5CF-8049-0146-7C178E633553}"/>
                </a:ext>
              </a:extLst>
            </p:cNvPr>
            <p:cNvSpPr/>
            <p:nvPr/>
          </p:nvSpPr>
          <p:spPr>
            <a:xfrm>
              <a:off x="9403184" y="851551"/>
              <a:ext cx="1713281" cy="2011773"/>
            </a:xfrm>
            <a:prstGeom prst="roundRect">
              <a:avLst/>
            </a:prstGeom>
            <a:solidFill>
              <a:srgbClr val="0F172A"/>
            </a:solidFill>
            <a:ln>
              <a:solidFill>
                <a:srgbClr val="3B82F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>
                <a:defRPr sz="1100">
                  <a:solidFill>
                    <a:srgbClr val="E2E8F0"/>
                  </a:solidFill>
                  <a:latin typeface="Segoe UI"/>
                </a:defRPr>
              </a:pPr>
              <a:r>
                <a:rPr lang="en-US" sz="1100" dirty="0"/>
                <a:t>• Secure Score</a:t>
              </a:r>
            </a:p>
            <a:p>
              <a:pPr>
                <a:defRPr sz="1100">
                  <a:solidFill>
                    <a:srgbClr val="E2E8F0"/>
                  </a:solidFill>
                  <a:latin typeface="Segoe UI"/>
                </a:defRPr>
              </a:pPr>
              <a:r>
                <a:rPr lang="en-US" sz="1100" dirty="0"/>
                <a:t>• Defender Coverage</a:t>
              </a:r>
            </a:p>
            <a:p>
              <a:pPr>
                <a:defRPr sz="1100">
                  <a:solidFill>
                    <a:srgbClr val="E2E8F0"/>
                  </a:solidFill>
                  <a:latin typeface="Segoe UI"/>
                </a:defRPr>
              </a:pPr>
              <a:r>
                <a:rPr lang="en-US" sz="1100" dirty="0"/>
                <a:t>• Purview Policies</a:t>
              </a:r>
            </a:p>
            <a:p>
              <a:pPr>
                <a:defRPr sz="1100">
                  <a:solidFill>
                    <a:srgbClr val="E2E8F0"/>
                  </a:solidFill>
                  <a:latin typeface="Segoe UI"/>
                </a:defRPr>
              </a:pPr>
              <a:r>
                <a:rPr lang="en-US" sz="1100" dirty="0"/>
                <a:t>• Entra Config</a:t>
              </a:r>
            </a:p>
            <a:p>
              <a:pPr>
                <a:defRPr sz="1100">
                  <a:solidFill>
                    <a:srgbClr val="E2E8F0"/>
                  </a:solidFill>
                  <a:latin typeface="Segoe UI"/>
                </a:defRPr>
              </a:pPr>
              <a:r>
                <a:rPr lang="en-US" sz="1100" dirty="0"/>
                <a:t>• Remediation Plan</a:t>
              </a:r>
            </a:p>
            <a:p>
              <a:pPr>
                <a:defRPr sz="1100">
                  <a:solidFill>
                    <a:srgbClr val="E2E8F0"/>
                  </a:solidFill>
                  <a:latin typeface="Segoe UI"/>
                </a:defRPr>
              </a:pPr>
              <a:r>
                <a:rPr lang="en-US" sz="1100" dirty="0"/>
                <a:t>• Adoption Scorecard</a:t>
              </a:r>
            </a:p>
            <a:p>
              <a:pPr>
                <a:defRPr sz="1100">
                  <a:solidFill>
                    <a:srgbClr val="E2E8F0"/>
                  </a:solidFill>
                  <a:latin typeface="Segoe UI"/>
                </a:defRPr>
              </a:pPr>
              <a:r>
                <a:rPr lang="en-US" sz="1100" dirty="0"/>
                <a:t>• GTG Playbook</a:t>
              </a:r>
            </a:p>
            <a:p>
              <a:pPr>
                <a:defRPr sz="1200">
                  <a:solidFill>
                    <a:srgbClr val="E2E8F0"/>
                  </a:solidFill>
                  <a:latin typeface="Segoe UI"/>
                </a:defRPr>
              </a:pPr>
              <a:endParaRPr dirty="0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2A012D96-04FC-9309-124A-F7B11071C122}"/>
                </a:ext>
              </a:extLst>
            </p:cNvPr>
            <p:cNvSpPr txBox="1"/>
            <p:nvPr/>
          </p:nvSpPr>
          <p:spPr>
            <a:xfrm>
              <a:off x="9955604" y="975477"/>
              <a:ext cx="676557" cy="30777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>
                <a:defRPr sz="1400">
                  <a:solidFill>
                    <a:srgbClr val="E2E8F0"/>
                  </a:solidFill>
                  <a:latin typeface="Segoe UI Semibold"/>
                </a:defRPr>
              </a:pPr>
              <a:r>
                <a:rPr lang="en-US" dirty="0"/>
                <a:t>Tools</a:t>
              </a:r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DA5458FD-9C3B-5D45-6EF0-5920601451CE}"/>
              </a:ext>
            </a:extLst>
          </p:cNvPr>
          <p:cNvSpPr txBox="1"/>
          <p:nvPr/>
        </p:nvSpPr>
        <p:spPr>
          <a:xfrm>
            <a:off x="760623" y="1494072"/>
            <a:ext cx="225380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E2E8F0"/>
                </a:solidFill>
                <a:latin typeface="Segoe UI Semibold"/>
              </a:defRPr>
            </a:pPr>
            <a:r>
              <a:rPr lang="en-US" dirty="0"/>
              <a:t>🤖  Posture IQ Agent 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6E34033E-268D-2C82-8F9B-484C6FE5B321}"/>
              </a:ext>
            </a:extLst>
          </p:cNvPr>
          <p:cNvGrpSpPr/>
          <p:nvPr/>
        </p:nvGrpSpPr>
        <p:grpSpPr>
          <a:xfrm>
            <a:off x="548640" y="4265243"/>
            <a:ext cx="8160094" cy="1855621"/>
            <a:chOff x="335176" y="4852169"/>
            <a:chExt cx="8507938" cy="1585133"/>
          </a:xfrm>
        </p:grpSpPr>
        <p:sp>
          <p:nvSpPr>
            <p:cNvPr id="44" name="Rounded Rectangle 12">
              <a:extLst>
                <a:ext uri="{FF2B5EF4-FFF2-40B4-BE49-F238E27FC236}">
                  <a16:creationId xmlns:a16="http://schemas.microsoft.com/office/drawing/2014/main" id="{6A861D0E-8991-4523-EEB5-C3EFDEEFB9E5}"/>
                </a:ext>
              </a:extLst>
            </p:cNvPr>
            <p:cNvSpPr/>
            <p:nvPr/>
          </p:nvSpPr>
          <p:spPr>
            <a:xfrm>
              <a:off x="335176" y="4852169"/>
              <a:ext cx="8507938" cy="1585133"/>
            </a:xfrm>
            <a:prstGeom prst="roundRect">
              <a:avLst/>
            </a:prstGeom>
            <a:solidFill>
              <a:srgbClr val="1E293B"/>
            </a:solidFill>
            <a:ln>
              <a:solidFill>
                <a:srgbClr val="94A3B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70FCB652-B9E1-BE56-3B88-152BAA288644}"/>
                </a:ext>
              </a:extLst>
            </p:cNvPr>
            <p:cNvGrpSpPr/>
            <p:nvPr/>
          </p:nvGrpSpPr>
          <p:grpSpPr>
            <a:xfrm>
              <a:off x="1146053" y="4927152"/>
              <a:ext cx="6569361" cy="1414874"/>
              <a:chOff x="1146053" y="4927152"/>
              <a:chExt cx="6569361" cy="1414874"/>
            </a:xfrm>
          </p:grpSpPr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798D63CF-B1A1-6442-BE9B-EEE4DA0C3E52}"/>
                  </a:ext>
                </a:extLst>
              </p:cNvPr>
              <p:cNvSpPr txBox="1"/>
              <p:nvPr/>
            </p:nvSpPr>
            <p:spPr>
              <a:xfrm>
                <a:off x="3825895" y="4927152"/>
                <a:ext cx="2192754" cy="289204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>
                  <a:defRPr sz="1400">
                    <a:solidFill>
                      <a:srgbClr val="E2E8F0"/>
                    </a:solidFill>
                    <a:latin typeface="Segoe UI Semibold"/>
                  </a:defRPr>
                </a:pPr>
                <a:r>
                  <a:rPr lang="en-US" sz="1600" dirty="0"/>
                  <a:t>Azure Services</a:t>
                </a:r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9FDAFA41-35E0-F4DA-1A78-E8E5BFD6C313}"/>
                  </a:ext>
                </a:extLst>
              </p:cNvPr>
              <p:cNvSpPr/>
              <p:nvPr/>
            </p:nvSpPr>
            <p:spPr>
              <a:xfrm>
                <a:off x="1146053" y="5367528"/>
                <a:ext cx="1289304" cy="429768"/>
              </a:xfrm>
              <a:prstGeom prst="rect">
                <a:avLst/>
              </a:prstGeom>
              <a:solidFill>
                <a:srgbClr val="0F172A"/>
              </a:solidFill>
              <a:ln>
                <a:solidFill>
                  <a:srgbClr val="94A3B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 sz="1000">
                    <a:solidFill>
                      <a:srgbClr val="E2E8F0"/>
                    </a:solidFill>
                    <a:latin typeface="Segoe UI"/>
                  </a:defRPr>
                </a:pPr>
                <a:r>
                  <a:rPr dirty="0"/>
                  <a:t>Azure OpenAI</a:t>
                </a:r>
                <a:br>
                  <a:rPr dirty="0"/>
                </a:br>
                <a:r>
                  <a:rPr dirty="0"/>
                  <a:t>(GPT-4o)</a:t>
                </a:r>
              </a:p>
            </p:txBody>
          </p: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482181B6-9A27-D7BE-FA96-841D707E9913}"/>
                  </a:ext>
                </a:extLst>
              </p:cNvPr>
              <p:cNvSpPr/>
              <p:nvPr/>
            </p:nvSpPr>
            <p:spPr>
              <a:xfrm>
                <a:off x="2906072" y="5367528"/>
                <a:ext cx="1289304" cy="429768"/>
              </a:xfrm>
              <a:prstGeom prst="rect">
                <a:avLst/>
              </a:prstGeom>
              <a:solidFill>
                <a:srgbClr val="0F172A"/>
              </a:solidFill>
              <a:ln>
                <a:solidFill>
                  <a:srgbClr val="94A3B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 sz="1000">
                    <a:solidFill>
                      <a:srgbClr val="E2E8F0"/>
                    </a:solidFill>
                    <a:latin typeface="Segoe UI"/>
                  </a:defRPr>
                </a:pPr>
                <a:r>
                  <a:rPr dirty="0"/>
                  <a:t>Microsoft Graph</a:t>
                </a:r>
                <a:br>
                  <a:rPr dirty="0"/>
                </a:br>
                <a:r>
                  <a:rPr dirty="0"/>
                  <a:t>Security API</a:t>
                </a:r>
              </a:p>
            </p:txBody>
          </p:sp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F3341239-8750-E51E-6702-58F59852F529}"/>
                  </a:ext>
                </a:extLst>
              </p:cNvPr>
              <p:cNvSpPr/>
              <p:nvPr/>
            </p:nvSpPr>
            <p:spPr>
              <a:xfrm>
                <a:off x="4666091" y="5367528"/>
                <a:ext cx="1289304" cy="429768"/>
              </a:xfrm>
              <a:prstGeom prst="rect">
                <a:avLst/>
              </a:prstGeom>
              <a:solidFill>
                <a:srgbClr val="0F172A"/>
              </a:solidFill>
              <a:ln>
                <a:solidFill>
                  <a:srgbClr val="94A3B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 sz="1000">
                    <a:solidFill>
                      <a:srgbClr val="E2E8F0"/>
                    </a:solidFill>
                    <a:latin typeface="Segoe UI"/>
                  </a:defRPr>
                </a:pPr>
                <a:r>
                  <a:rPr dirty="0"/>
                  <a:t>Content Safety</a:t>
                </a:r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B59C9558-C5D4-C5E9-FB6D-894043A16B3A}"/>
                  </a:ext>
                </a:extLst>
              </p:cNvPr>
              <p:cNvSpPr/>
              <p:nvPr/>
            </p:nvSpPr>
            <p:spPr>
              <a:xfrm>
                <a:off x="6426110" y="5367528"/>
                <a:ext cx="1289304" cy="429768"/>
              </a:xfrm>
              <a:prstGeom prst="rect">
                <a:avLst/>
              </a:prstGeom>
              <a:solidFill>
                <a:srgbClr val="0F172A"/>
              </a:solidFill>
              <a:ln>
                <a:solidFill>
                  <a:srgbClr val="94A3B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 sz="1000">
                    <a:solidFill>
                      <a:srgbClr val="E2E8F0"/>
                    </a:solidFill>
                    <a:latin typeface="Segoe UI"/>
                  </a:defRPr>
                </a:pPr>
                <a:r>
                  <a:rPr dirty="0"/>
                  <a:t>App Insights</a:t>
                </a:r>
                <a:br>
                  <a:rPr dirty="0"/>
                </a:br>
                <a:r>
                  <a:rPr dirty="0"/>
                  <a:t>(</a:t>
                </a:r>
                <a:r>
                  <a:rPr lang="en-US" dirty="0"/>
                  <a:t>Observability</a:t>
                </a:r>
                <a:r>
                  <a:rPr dirty="0"/>
                  <a:t>)</a:t>
                </a:r>
              </a:p>
            </p:txBody>
          </p:sp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3D73703F-609A-9E8D-770C-0E90CA0D4BCE}"/>
                  </a:ext>
                </a:extLst>
              </p:cNvPr>
              <p:cNvSpPr/>
              <p:nvPr/>
            </p:nvSpPr>
            <p:spPr>
              <a:xfrm>
                <a:off x="1146053" y="5912258"/>
                <a:ext cx="1289304" cy="429768"/>
              </a:xfrm>
              <a:prstGeom prst="rect">
                <a:avLst/>
              </a:prstGeom>
              <a:solidFill>
                <a:srgbClr val="0F172A"/>
              </a:solidFill>
              <a:ln>
                <a:solidFill>
                  <a:srgbClr val="94A3B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 sz="1000">
                    <a:solidFill>
                      <a:srgbClr val="E2E8F0"/>
                    </a:solidFill>
                    <a:latin typeface="Segoe UI"/>
                  </a:defRPr>
                </a:pPr>
                <a:r>
                  <a:rPr dirty="0"/>
                  <a:t>Key Vault</a:t>
                </a:r>
                <a:br>
                  <a:rPr dirty="0"/>
                </a:br>
                <a:r>
                  <a:rPr dirty="0"/>
                  <a:t>(Secrets)</a:t>
                </a:r>
              </a:p>
            </p:txBody>
          </p:sp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22DE35F2-C325-0F75-9168-42AC16CD6E77}"/>
                  </a:ext>
                </a:extLst>
              </p:cNvPr>
              <p:cNvSpPr/>
              <p:nvPr/>
            </p:nvSpPr>
            <p:spPr>
              <a:xfrm>
                <a:off x="2906072" y="5912258"/>
                <a:ext cx="1289304" cy="429768"/>
              </a:xfrm>
              <a:prstGeom prst="rect">
                <a:avLst/>
              </a:prstGeom>
              <a:solidFill>
                <a:srgbClr val="0F172A"/>
              </a:solidFill>
              <a:ln>
                <a:solidFill>
                  <a:srgbClr val="94A3B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 sz="1000">
                    <a:solidFill>
                      <a:srgbClr val="E2E8F0"/>
                    </a:solidFill>
                    <a:latin typeface="Segoe UI"/>
                  </a:defRPr>
                </a:pPr>
                <a:r>
                  <a:rPr dirty="0"/>
                  <a:t>Container Apps</a:t>
                </a:r>
                <a:br>
                  <a:rPr dirty="0"/>
                </a:br>
                <a:r>
                  <a:rPr dirty="0"/>
                  <a:t>(Host)</a:t>
                </a:r>
              </a:p>
            </p:txBody>
          </p:sp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5B6E3F0B-DA28-BE9D-3131-DF476D1153F2}"/>
                  </a:ext>
                </a:extLst>
              </p:cNvPr>
              <p:cNvSpPr/>
              <p:nvPr/>
            </p:nvSpPr>
            <p:spPr>
              <a:xfrm>
                <a:off x="4666091" y="5912258"/>
                <a:ext cx="1289304" cy="429768"/>
              </a:xfrm>
              <a:prstGeom prst="rect">
                <a:avLst/>
              </a:prstGeom>
              <a:solidFill>
                <a:srgbClr val="0F172A"/>
              </a:solidFill>
              <a:ln>
                <a:solidFill>
                  <a:srgbClr val="94A3B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 sz="1000">
                    <a:solidFill>
                      <a:srgbClr val="E2E8F0"/>
                    </a:solidFill>
                    <a:latin typeface="Segoe UI"/>
                  </a:defRPr>
                </a:pPr>
                <a:r>
                  <a:rPr dirty="0"/>
                  <a:t>ACR</a:t>
                </a:r>
                <a:br>
                  <a:rPr dirty="0"/>
                </a:br>
                <a:r>
                  <a:rPr dirty="0"/>
                  <a:t>(Images)</a:t>
                </a:r>
              </a:p>
            </p:txBody>
          </p:sp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93FAECF6-F79C-5820-8143-ABDB3C1E54B9}"/>
                  </a:ext>
                </a:extLst>
              </p:cNvPr>
              <p:cNvSpPr/>
              <p:nvPr/>
            </p:nvSpPr>
            <p:spPr>
              <a:xfrm>
                <a:off x="6426110" y="5912258"/>
                <a:ext cx="1289304" cy="429768"/>
              </a:xfrm>
              <a:prstGeom prst="rect">
                <a:avLst/>
              </a:prstGeom>
              <a:solidFill>
                <a:srgbClr val="0F172A"/>
              </a:solidFill>
              <a:ln>
                <a:solidFill>
                  <a:srgbClr val="94A3B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 sz="1000">
                    <a:solidFill>
                      <a:srgbClr val="E2E8F0"/>
                    </a:solidFill>
                    <a:latin typeface="Segoe UI"/>
                  </a:defRPr>
                </a:pPr>
                <a:r>
                  <a:t>Entra ID</a:t>
                </a:r>
                <a:br/>
                <a:r>
                  <a:t>(Auth/RBAC)</a:t>
                </a:r>
              </a:p>
            </p:txBody>
          </p:sp>
        </p:grpSp>
      </p:grpSp>
      <p:sp>
        <p:nvSpPr>
          <p:cNvPr id="55" name="Arrow: Left-Right 54">
            <a:extLst>
              <a:ext uri="{FF2B5EF4-FFF2-40B4-BE49-F238E27FC236}">
                <a16:creationId xmlns:a16="http://schemas.microsoft.com/office/drawing/2014/main" id="{DD2D1B4D-E80A-C653-B30E-C8D4CC2CD853}"/>
              </a:ext>
            </a:extLst>
          </p:cNvPr>
          <p:cNvSpPr/>
          <p:nvPr/>
        </p:nvSpPr>
        <p:spPr>
          <a:xfrm>
            <a:off x="3434520" y="2743757"/>
            <a:ext cx="553416" cy="258026"/>
          </a:xfrm>
          <a:prstGeom prst="left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Arrow: Left-Right 55">
            <a:extLst>
              <a:ext uri="{FF2B5EF4-FFF2-40B4-BE49-F238E27FC236}">
                <a16:creationId xmlns:a16="http://schemas.microsoft.com/office/drawing/2014/main" id="{361B532A-45E8-1D33-4B18-6CDDA101C1E3}"/>
              </a:ext>
            </a:extLst>
          </p:cNvPr>
          <p:cNvSpPr/>
          <p:nvPr/>
        </p:nvSpPr>
        <p:spPr>
          <a:xfrm>
            <a:off x="5662370" y="2758603"/>
            <a:ext cx="553416" cy="258026"/>
          </a:xfrm>
          <a:prstGeom prst="left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From Weeks to Minutes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Enterprise Value &amp; Readiness</a:t>
            </a:r>
          </a:p>
          <a:p>
            <a:r>
              <a:rPr dirty="0"/>
              <a:t>Security posture assessment </a:t>
            </a:r>
            <a:r>
              <a:rPr lang="en-US" dirty="0"/>
              <a:t>in </a:t>
            </a:r>
            <a:r>
              <a:rPr dirty="0"/>
              <a:t>minutes</a:t>
            </a:r>
          </a:p>
          <a:p>
            <a:r>
              <a:rPr dirty="0"/>
              <a:t>Scales across all ME5 customers</a:t>
            </a:r>
          </a:p>
          <a:p>
            <a:r>
              <a:rPr dirty="0"/>
              <a:t>CI/CD with GitHub Actions + OIDC</a:t>
            </a:r>
          </a:p>
          <a:p>
            <a:r>
              <a:rPr dirty="0"/>
              <a:t>Enterprise security &amp; RAI guardrails built-in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156</Words>
  <Application>Microsoft Office PowerPoint</Application>
  <PresentationFormat>On-screen Show (4:3)</PresentationFormat>
  <Paragraphs>35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Segoe UI</vt:lpstr>
      <vt:lpstr>Office Theme</vt:lpstr>
      <vt:lpstr>PowerPoint Presentation</vt:lpstr>
      <vt:lpstr>From Weeks to Minutes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Velen Liang</cp:lastModifiedBy>
  <cp:revision>9</cp:revision>
  <dcterms:created xsi:type="dcterms:W3CDTF">2013-01-27T09:14:16Z</dcterms:created>
  <dcterms:modified xsi:type="dcterms:W3CDTF">2026-03-23T02:59:03Z</dcterms:modified>
  <cp:category/>
</cp:coreProperties>
</file>